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65" r:id="rId2"/>
    <p:sldId id="366" r:id="rId3"/>
    <p:sldId id="362" r:id="rId4"/>
    <p:sldId id="364" r:id="rId5"/>
    <p:sldId id="262" r:id="rId6"/>
    <p:sldId id="260" r:id="rId7"/>
    <p:sldId id="270" r:id="rId8"/>
    <p:sldId id="368" r:id="rId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</p14:sldIdLst>
        </p14:section>
        <p14:section name="Шаблоны слайдов" id="{24401F80-F81B-49C3-8D55-70A14F0BF8FF}">
          <p14:sldIdLst>
            <p14:sldId id="262"/>
            <p14:sldId id="260"/>
            <p14:sldId id="270"/>
            <p14:sldId id="368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pos="3613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2571"/>
    <a:srgbClr val="8226E3"/>
    <a:srgbClr val="2D1451"/>
    <a:srgbClr val="222A35"/>
    <a:srgbClr val="55D4EE"/>
    <a:srgbClr val="73F9CF"/>
    <a:srgbClr val="2D1551"/>
    <a:srgbClr val="8226E2"/>
    <a:srgbClr val="EF257A"/>
    <a:srgbClr val="FE0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5851"/>
  </p:normalViewPr>
  <p:slideViewPr>
    <p:cSldViewPr snapToGrid="0" showGuides="1">
      <p:cViewPr>
        <p:scale>
          <a:sx n="125" d="100"/>
          <a:sy n="125" d="100"/>
        </p:scale>
        <p:origin x="132" y="186"/>
      </p:cViewPr>
      <p:guideLst>
        <p:guide orient="horz" pos="2160"/>
        <p:guide pos="574"/>
        <p:guide pos="3613"/>
        <p:guide pos="5496"/>
        <p:guide pos="40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184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solidFill>
            <a:schemeClr val="bg1">
              <a:alpha val="20000"/>
            </a:schemeClr>
          </a:solidFill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xmlns="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solidFill>
            <a:schemeClr val="bg1">
              <a:alpha val="20000"/>
            </a:schemeClr>
          </a:solidFill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xmlns="" id="{605B910C-9A3E-FA3B-DC7F-BA27D3A1B516}"/>
              </a:ext>
            </a:extLst>
          </p:cNvPr>
          <p:cNvSpPr txBox="1">
            <a:spLocks/>
          </p:cNvSpPr>
          <p:nvPr userDrawn="1"/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/>
              <a:t>КОМАНДА «НАЗВАНИЕ»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xmlns="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xmlns="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xmlns="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xmlns="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xmlns="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xmlns="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xmlns="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01.10.2025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xmlns="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xmlns="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xmlns="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xmlns="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01.10.2025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xmlns="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xmlns="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xmlns="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xmlns="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01.10.2025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xmlns="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xmlns="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xmlns="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xmlns="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01.10.2025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xmlns="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xmlns="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xmlns="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01.10.2025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xmlns="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xmlns="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xmlns="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xmlns="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xmlns="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xmlns="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xmlns="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xmlns="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xmlns="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xmlns="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xmlns="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xmlns="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xmlns="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xmlns="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xmlns="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xmlns="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xmlns="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xmlns="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xmlns="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xmlns="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xmlns="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xmlns="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xmlns="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xmlns="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xmlns="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xmlns="" id="{8909D3DD-8766-4DF8-A38C-44840B2476CA}"/>
              </a:ext>
            </a:extLst>
          </p:cNvPr>
          <p:cNvSpPr/>
          <p:nvPr userDrawn="1"/>
        </p:nvSpPr>
        <p:spPr>
          <a:xfrm>
            <a:off x="346075" y="1016001"/>
            <a:ext cx="6806142" cy="2029882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xmlns="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xmlns="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xmlns="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xmlns="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xmlns="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xmlns="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xmlns="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xmlns="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xmlns="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xmlns="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xmlns="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xmlns="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xmlns="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xmlns="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xmlns="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xmlns="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xmlns="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xmlns="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xmlns="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xmlns="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xmlns="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xmlns="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xmlns="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xmlns="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xmlns="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xmlns="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xmlns="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xmlns="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xmlns="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xmlns="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xmlns="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xmlns="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xmlns="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xmlns="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xmlns="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xmlns="" id="{A5F6008C-951E-4E5C-B47F-6040B193FB33}"/>
              </a:ext>
            </a:extLst>
          </p:cNvPr>
          <p:cNvSpPr/>
          <p:nvPr userDrawn="1"/>
        </p:nvSpPr>
        <p:spPr>
          <a:xfrm flipV="1">
            <a:off x="0" y="4324414"/>
            <a:ext cx="5330956" cy="678504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xmlns="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xmlns="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xmlns="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xmlns="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xmlns="" id="{051171B0-5B98-49B1-802A-F182B5FE7BCA}"/>
              </a:ext>
            </a:extLst>
          </p:cNvPr>
          <p:cNvSpPr/>
          <p:nvPr userDrawn="1"/>
        </p:nvSpPr>
        <p:spPr>
          <a:xfrm flipV="1">
            <a:off x="6862163" y="4324414"/>
            <a:ext cx="5330956" cy="678504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xmlns="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xmlns="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xmlns="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xmlns="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xmlns="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xmlns="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xmlns="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xmlns="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xmlns="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xmlns="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xmlns="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xmlns="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xmlns="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xmlns="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01.10.2025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xmlns="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xmlns="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xmlns="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xmlns="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xmlns="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xmlns="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xmlns="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xmlns="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xmlns="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xmlns="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xmlns="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xmlns="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xmlns="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с одним усеченным углом 5">
            <a:extLst>
              <a:ext uri="{FF2B5EF4-FFF2-40B4-BE49-F238E27FC236}">
                <a16:creationId xmlns:a16="http://schemas.microsoft.com/office/drawing/2014/main" xmlns="" id="{63C0110F-AA77-51FB-37DF-BC3D51A145AA}"/>
              </a:ext>
            </a:extLst>
          </p:cNvPr>
          <p:cNvSpPr/>
          <p:nvPr/>
        </p:nvSpPr>
        <p:spPr>
          <a:xfrm>
            <a:off x="811459" y="2177105"/>
            <a:ext cx="5744056" cy="1558359"/>
          </a:xfrm>
          <a:prstGeom prst="snip1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sz="1200" b="1" dirty="0">
              <a:solidFill>
                <a:schemeClr val="accent2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TheSeekers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r>
              <a:rPr lang="ru-RU" dirty="0"/>
              <a:t>Тема 4: Автоматизация приёма и выдачи инструментов</a:t>
            </a:r>
          </a:p>
        </p:txBody>
      </p:sp>
      <p:pic>
        <p:nvPicPr>
          <p:cNvPr id="9" name="Рисунок 8" descr="Изображение выглядит как текст, Шрифт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17F7C58A-1A15-2D51-D2EE-87A8883F11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608" y="2434844"/>
            <a:ext cx="2841522" cy="10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углом 2">
            <a:extLst>
              <a:ext uri="{FF2B5EF4-FFF2-40B4-BE49-F238E27FC236}">
                <a16:creationId xmlns:a16="http://schemas.microsoft.com/office/drawing/2014/main" xmlns="" id="{84F5218D-7EA5-E87A-5428-A9065418900C}"/>
              </a:ext>
            </a:extLst>
          </p:cNvPr>
          <p:cNvSpPr/>
          <p:nvPr/>
        </p:nvSpPr>
        <p:spPr>
          <a:xfrm>
            <a:off x="6112982" y="1016000"/>
            <a:ext cx="5744056" cy="2413000"/>
          </a:xfrm>
          <a:prstGeom prst="snip1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xmlns="" id="{F87048F5-722B-1F73-1FF3-97C6F4B943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8758" b="28758"/>
          <a:stretch/>
        </p:blipFill>
        <p:spPr>
          <a:xfrm>
            <a:off x="6284913" y="1133475"/>
            <a:ext cx="5227637" cy="2220913"/>
          </a:xfrm>
          <a:prstGeom prst="rect">
            <a:avLst/>
          </a:prstGeom>
        </p:spPr>
      </p:pic>
      <p:sp>
        <p:nvSpPr>
          <p:cNvPr id="4" name="Прямоугольник с двумя учесеченными противолежащими углами 3">
            <a:extLst>
              <a:ext uri="{FF2B5EF4-FFF2-40B4-BE49-F238E27FC236}">
                <a16:creationId xmlns:a16="http://schemas.microsoft.com/office/drawing/2014/main" xmlns="" id="{EAC6BE12-13A7-AA34-29B3-F6395E296893}"/>
              </a:ext>
            </a:extLst>
          </p:cNvPr>
          <p:cNvSpPr/>
          <p:nvPr/>
        </p:nvSpPr>
        <p:spPr>
          <a:xfrm>
            <a:off x="371214" y="2798958"/>
            <a:ext cx="5364424" cy="1343098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xmlns="" id="{A65CE87C-31F5-F7C9-BFC0-083442875F5F}"/>
              </a:ext>
            </a:extLst>
          </p:cNvPr>
          <p:cNvSpPr txBox="1">
            <a:spLocks/>
          </p:cNvSpPr>
          <p:nvPr/>
        </p:nvSpPr>
        <p:spPr>
          <a:xfrm>
            <a:off x="1194901" y="3401467"/>
            <a:ext cx="3717046" cy="516029"/>
          </a:xfrm>
          <a:prstGeom prst="rect">
            <a:avLst/>
          </a:prstGeom>
        </p:spPr>
        <p:txBody>
          <a:bodyPr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dirty="0"/>
              <a:t>Автоматизация приёма и выдачи инструментов</a:t>
            </a:r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xmlns="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1558339" y="2996161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Наименование задачи:</a:t>
            </a:r>
          </a:p>
        </p:txBody>
      </p:sp>
      <p:sp>
        <p:nvSpPr>
          <p:cNvPr id="7" name="Прямоугольник с двумя учесеченными противолежащими углами 6">
            <a:extLst>
              <a:ext uri="{FF2B5EF4-FFF2-40B4-BE49-F238E27FC236}">
                <a16:creationId xmlns:a16="http://schemas.microsoft.com/office/drawing/2014/main" xmlns="" id="{BA6E2E22-7CB7-D351-3003-12D0777AA84A}"/>
              </a:ext>
            </a:extLst>
          </p:cNvPr>
          <p:cNvSpPr/>
          <p:nvPr/>
        </p:nvSpPr>
        <p:spPr>
          <a:xfrm>
            <a:off x="371214" y="4336253"/>
            <a:ext cx="5364424" cy="1864523"/>
          </a:xfrm>
          <a:prstGeom prst="snip2DiagRect">
            <a:avLst>
              <a:gd name="adj1" fmla="val 0"/>
              <a:gd name="adj2" fmla="val 5972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xmlns="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371214" y="4744565"/>
            <a:ext cx="5288096" cy="14562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В рамках проекта была разработана веб-система для автоматизированного распознавания инструментов на изображениях, включающая фронтенд, бэкенд и CV-сервис на базе модели YOLO. Решение позволяет фиксировать выдачу и возврат инструментов, хранить результаты в базе данных и сравнивать инструменты с загруженного фото с эталонным набором.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31B7AD7A-6B88-BC5A-8181-ABE8F90EF757}"/>
              </a:ext>
            </a:extLst>
          </p:cNvPr>
          <p:cNvSpPr txBox="1">
            <a:spLocks/>
          </p:cNvSpPr>
          <p:nvPr/>
        </p:nvSpPr>
        <p:spPr>
          <a:xfrm>
            <a:off x="1558339" y="4454278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Описание решения:</a:t>
            </a:r>
          </a:p>
        </p:txBody>
      </p:sp>
      <p:sp>
        <p:nvSpPr>
          <p:cNvPr id="10" name="Прямоугольник с двумя учесеченными противолежащими углами 9">
            <a:extLst>
              <a:ext uri="{FF2B5EF4-FFF2-40B4-BE49-F238E27FC236}">
                <a16:creationId xmlns:a16="http://schemas.microsoft.com/office/drawing/2014/main" xmlns="" id="{A588FF60-B556-13B0-1F84-F39798FCCFFC}"/>
              </a:ext>
            </a:extLst>
          </p:cNvPr>
          <p:cNvSpPr/>
          <p:nvPr/>
        </p:nvSpPr>
        <p:spPr>
          <a:xfrm>
            <a:off x="6096000" y="3619076"/>
            <a:ext cx="5761038" cy="2581700"/>
          </a:xfrm>
          <a:prstGeom prst="snip2DiagRect">
            <a:avLst>
              <a:gd name="adj1" fmla="val 0"/>
              <a:gd name="adj2" fmla="val 5972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xmlns="" id="{79C36659-3CC2-1809-328B-B1EADACF56A8}"/>
              </a:ext>
            </a:extLst>
          </p:cNvPr>
          <p:cNvSpPr txBox="1">
            <a:spLocks/>
          </p:cNvSpPr>
          <p:nvPr/>
        </p:nvSpPr>
        <p:spPr>
          <a:xfrm>
            <a:off x="6474783" y="4375230"/>
            <a:ext cx="4945565" cy="13492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В дальнейшем система может быть расширена за счёт обучения модели на новых наборах данных и добавления новых функций и методов сравнения инструментов в сервисе.</a:t>
            </a:r>
            <a:endParaRPr lang="en-US" dirty="0"/>
          </a:p>
          <a:p>
            <a:pPr marL="0" indent="0" algn="ctr">
              <a:buNone/>
            </a:pPr>
            <a:r>
              <a:rPr lang="ru-RU" dirty="0"/>
              <a:t> Оптимизации через ONNX/</a:t>
            </a:r>
            <a:r>
              <a:rPr lang="ru-RU" dirty="0" err="1"/>
              <a:t>TensorRT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xmlns="" id="{172DB980-DE27-CB70-D229-6DDA98C418EF}"/>
              </a:ext>
            </a:extLst>
          </p:cNvPr>
          <p:cNvSpPr txBox="1">
            <a:spLocks/>
          </p:cNvSpPr>
          <p:nvPr/>
        </p:nvSpPr>
        <p:spPr>
          <a:xfrm>
            <a:off x="6163496" y="384632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Как вы планируете дальше использовать </a:t>
            </a:r>
            <a:br>
              <a:rPr lang="ru-RU" b="1" dirty="0">
                <a:solidFill>
                  <a:schemeClr val="accent2"/>
                </a:solidFill>
              </a:rPr>
            </a:br>
            <a:r>
              <a:rPr lang="ru-RU" b="1" dirty="0">
                <a:solidFill>
                  <a:schemeClr val="accent2"/>
                </a:solidFill>
              </a:rPr>
              <a:t>или развивать ваше решение:</a:t>
            </a:r>
          </a:p>
        </p:txBody>
      </p:sp>
      <p:sp>
        <p:nvSpPr>
          <p:cNvPr id="13" name="Прямоугольник с двумя учесеченными противолежащими углами 12">
            <a:extLst>
              <a:ext uri="{FF2B5EF4-FFF2-40B4-BE49-F238E27FC236}">
                <a16:creationId xmlns:a16="http://schemas.microsoft.com/office/drawing/2014/main" xmlns="" id="{34A2F70F-68BC-72F9-09E0-CF28D94A9521}"/>
              </a:ext>
            </a:extLst>
          </p:cNvPr>
          <p:cNvSpPr/>
          <p:nvPr/>
        </p:nvSpPr>
        <p:spPr>
          <a:xfrm>
            <a:off x="371214" y="1016000"/>
            <a:ext cx="5364424" cy="1576729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xmlns="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702554" y="1495848"/>
            <a:ext cx="4348812" cy="10151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Москва</a:t>
            </a:r>
          </a:p>
          <a:p>
            <a:r>
              <a:rPr lang="ru-RU" dirty="0"/>
              <a:t>3 человека</a:t>
            </a:r>
          </a:p>
          <a:p>
            <a:r>
              <a:rPr lang="ru-RU" dirty="0"/>
              <a:t>Капитан команды – Екатерина П.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xmlns="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1558339" y="1179389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О команде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xmlns="" id="{C82BA298-77C4-20BF-D40A-9F3045D67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15" y="292414"/>
            <a:ext cx="4820172" cy="511058"/>
          </a:xfrm>
          <a:prstGeom prst="rect">
            <a:avLst/>
          </a:prstGeom>
        </p:spPr>
      </p:pic>
      <p:sp>
        <p:nvSpPr>
          <p:cNvPr id="28" name="Заголовок 6">
            <a:extLst>
              <a:ext uri="{FF2B5EF4-FFF2-40B4-BE49-F238E27FC236}">
                <a16:creationId xmlns:a16="http://schemas.microsoft.com/office/drawing/2014/main" xmlns="" id="{003B0860-5E4A-F19C-3B66-69096D256740}"/>
              </a:ext>
            </a:extLst>
          </p:cNvPr>
          <p:cNvSpPr txBox="1">
            <a:spLocks/>
          </p:cNvSpPr>
          <p:nvPr/>
        </p:nvSpPr>
        <p:spPr>
          <a:xfrm>
            <a:off x="371214" y="421794"/>
            <a:ext cx="6365488" cy="376138"/>
          </a:xfrm>
          <a:prstGeom prst="rect">
            <a:avLst/>
          </a:prstGeom>
        </p:spPr>
        <p:txBody>
          <a:bodyPr/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>
                <a:latin typeface="+mn-lt"/>
              </a:rPr>
              <a:t>КОМАНДА «</a:t>
            </a:r>
            <a:r>
              <a:rPr lang="en-US">
                <a:latin typeface="+mn-lt"/>
              </a:rPr>
              <a:t>THE SEEKERS</a:t>
            </a:r>
            <a:r>
              <a:rPr lang="ru-RU">
                <a:latin typeface="+mn-lt"/>
              </a:rPr>
              <a:t>»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с двумя учесеченными противолежащими углами 18">
            <a:extLst>
              <a:ext uri="{FF2B5EF4-FFF2-40B4-BE49-F238E27FC236}">
                <a16:creationId xmlns:a16="http://schemas.microsoft.com/office/drawing/2014/main" xmlns="" id="{DB144DF4-BC6C-6132-A6AB-EA6D85FCF051}"/>
              </a:ext>
            </a:extLst>
          </p:cNvPr>
          <p:cNvSpPr/>
          <p:nvPr/>
        </p:nvSpPr>
        <p:spPr>
          <a:xfrm>
            <a:off x="1746233" y="3461798"/>
            <a:ext cx="1980155" cy="2379016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 err="1">
                <a:solidFill>
                  <a:schemeClr val="accent2"/>
                </a:solidFill>
              </a:rPr>
              <a:t>Панютищева</a:t>
            </a:r>
            <a:r>
              <a:rPr lang="ru-RU" b="1" dirty="0">
                <a:solidFill>
                  <a:schemeClr val="accent2"/>
                </a:solidFill>
              </a:rPr>
              <a:t>  Екатерина</a:t>
            </a:r>
          </a:p>
        </p:txBody>
      </p:sp>
      <p:sp>
        <p:nvSpPr>
          <p:cNvPr id="20" name="Прямоугольник с двумя учесеченными противолежащими углами 19">
            <a:extLst>
              <a:ext uri="{FF2B5EF4-FFF2-40B4-BE49-F238E27FC236}">
                <a16:creationId xmlns:a16="http://schemas.microsoft.com/office/drawing/2014/main" xmlns="" id="{64147576-183D-C3F3-7CE0-A1EC79C248D4}"/>
              </a:ext>
            </a:extLst>
          </p:cNvPr>
          <p:cNvSpPr/>
          <p:nvPr/>
        </p:nvSpPr>
        <p:spPr>
          <a:xfrm>
            <a:off x="4980998" y="3461798"/>
            <a:ext cx="1980155" cy="2379016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 err="1">
                <a:solidFill>
                  <a:schemeClr val="accent2"/>
                </a:solidFill>
              </a:rPr>
              <a:t>Чувайкина</a:t>
            </a:r>
            <a:endParaRPr lang="ru-RU" b="1" dirty="0">
              <a:solidFill>
                <a:schemeClr val="accent2"/>
              </a:solidFill>
            </a:endParaRPr>
          </a:p>
          <a:p>
            <a:pPr algn="ctr"/>
            <a:r>
              <a:rPr lang="ru-RU" b="1" dirty="0">
                <a:solidFill>
                  <a:schemeClr val="accent2"/>
                </a:solidFill>
              </a:rPr>
              <a:t>Елизавета</a:t>
            </a:r>
          </a:p>
        </p:txBody>
      </p:sp>
      <p:sp>
        <p:nvSpPr>
          <p:cNvPr id="21" name="Прямоугольник с двумя учесеченными противолежащими углами 20">
            <a:extLst>
              <a:ext uri="{FF2B5EF4-FFF2-40B4-BE49-F238E27FC236}">
                <a16:creationId xmlns:a16="http://schemas.microsoft.com/office/drawing/2014/main" xmlns="" id="{AF370263-13A5-C54C-7A0E-B798A3BBB072}"/>
              </a:ext>
            </a:extLst>
          </p:cNvPr>
          <p:cNvSpPr/>
          <p:nvPr/>
        </p:nvSpPr>
        <p:spPr>
          <a:xfrm>
            <a:off x="8215763" y="3461798"/>
            <a:ext cx="1980155" cy="2379016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Киселев Михаил</a:t>
            </a:r>
          </a:p>
        </p:txBody>
      </p:sp>
      <p:sp>
        <p:nvSpPr>
          <p:cNvPr id="12" name="Прямоугольник с одним усеченным углом 11">
            <a:extLst>
              <a:ext uri="{FF2B5EF4-FFF2-40B4-BE49-F238E27FC236}">
                <a16:creationId xmlns:a16="http://schemas.microsoft.com/office/drawing/2014/main" xmlns="" id="{45CAE250-DBB1-9BFA-27FB-954552F49E5D}"/>
              </a:ext>
            </a:extLst>
          </p:cNvPr>
          <p:cNvSpPr/>
          <p:nvPr/>
        </p:nvSpPr>
        <p:spPr>
          <a:xfrm>
            <a:off x="8215763" y="1332597"/>
            <a:ext cx="1980155" cy="1814617"/>
          </a:xfrm>
          <a:prstGeom prst="snip1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Прямоугольник с одним усеченным углом 7">
            <a:extLst>
              <a:ext uri="{FF2B5EF4-FFF2-40B4-BE49-F238E27FC236}">
                <a16:creationId xmlns:a16="http://schemas.microsoft.com/office/drawing/2014/main" xmlns="" id="{201EAA2F-F365-D286-8F39-7CDE264CD87F}"/>
              </a:ext>
            </a:extLst>
          </p:cNvPr>
          <p:cNvSpPr/>
          <p:nvPr/>
        </p:nvSpPr>
        <p:spPr>
          <a:xfrm>
            <a:off x="1746233" y="1332597"/>
            <a:ext cx="1980155" cy="1814617"/>
          </a:xfrm>
          <a:prstGeom prst="snip1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Прямоугольник с одним усеченным углом 9">
            <a:extLst>
              <a:ext uri="{FF2B5EF4-FFF2-40B4-BE49-F238E27FC236}">
                <a16:creationId xmlns:a16="http://schemas.microsoft.com/office/drawing/2014/main" xmlns="" id="{A848CFE2-BF35-4DA4-FC48-6FD3A2D58765}"/>
              </a:ext>
            </a:extLst>
          </p:cNvPr>
          <p:cNvSpPr/>
          <p:nvPr/>
        </p:nvSpPr>
        <p:spPr>
          <a:xfrm>
            <a:off x="4980998" y="1332597"/>
            <a:ext cx="1980155" cy="1814617"/>
          </a:xfrm>
          <a:prstGeom prst="snip1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A05C407F-F337-B778-912C-2562E95B2A9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4863" b="14863"/>
          <a:stretch/>
        </p:blipFill>
        <p:spPr>
          <a:xfrm>
            <a:off x="1946275" y="1522413"/>
            <a:ext cx="1536700" cy="1439862"/>
          </a:xfrm>
          <a:prstGeom prst="rect">
            <a:avLst/>
          </a:prstGeom>
        </p:spPr>
      </p:pic>
      <p:pic>
        <p:nvPicPr>
          <p:cNvPr id="5" name="Рисунок 4" descr="Изображение выглядит как Человеческое лицо, человек, одежд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C035BCF6-52EE-C905-6C66-9B1392187B0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5" b="18735"/>
          <a:stretch>
            <a:fillRect/>
          </a:stretch>
        </p:blipFill>
        <p:spPr>
          <a:xfrm>
            <a:off x="5176838" y="1522413"/>
            <a:ext cx="1535112" cy="1439862"/>
          </a:xfr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xmlns="" id="{2708B497-B85B-6554-9046-27213DD89D1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18816" b="18816"/>
          <a:stretch/>
        </p:blipFill>
        <p:spPr>
          <a:xfrm>
            <a:off x="8409082" y="1522413"/>
            <a:ext cx="1536700" cy="1439862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14" y="421794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 «</a:t>
            </a:r>
            <a:r>
              <a:rPr lang="en-US" dirty="0">
                <a:latin typeface="+mn-lt"/>
              </a:rPr>
              <a:t>THE SEEKERS</a:t>
            </a:r>
            <a:r>
              <a:rPr lang="ru-RU" dirty="0">
                <a:latin typeface="+mn-lt"/>
              </a:rPr>
              <a:t>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14519" y="4299415"/>
            <a:ext cx="1843581" cy="1225988"/>
          </a:xfrm>
        </p:spPr>
        <p:txBody>
          <a:bodyPr/>
          <a:lstStyle/>
          <a:p>
            <a:r>
              <a:rPr lang="en-US" dirty="0"/>
              <a:t>CV </a:t>
            </a:r>
            <a:r>
              <a:rPr lang="ru-RU" dirty="0"/>
              <a:t>инженер</a:t>
            </a:r>
          </a:p>
          <a:p>
            <a:r>
              <a:rPr lang="en-US" dirty="0"/>
              <a:t>@Ekaterina2231</a:t>
            </a:r>
            <a:endParaRPr lang="ru-RU" dirty="0"/>
          </a:p>
          <a:p>
            <a:r>
              <a:rPr lang="ru-RU" dirty="0"/>
              <a:t>+7 916 759 6414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09FA2196-9D34-827B-ACEA-0E5E945660F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57972" y="4264316"/>
            <a:ext cx="1843581" cy="1576498"/>
          </a:xfrm>
        </p:spPr>
        <p:txBody>
          <a:bodyPr/>
          <a:lstStyle/>
          <a:p>
            <a:r>
              <a:rPr lang="ru-RU" dirty="0" err="1"/>
              <a:t>Фронтендер</a:t>
            </a:r>
            <a:r>
              <a:rPr lang="en-US" dirty="0"/>
              <a:t>/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Бэкендер</a:t>
            </a:r>
            <a:endParaRPr lang="ru-RU" dirty="0"/>
          </a:p>
          <a:p>
            <a:r>
              <a:rPr lang="en-US" dirty="0"/>
              <a:t>@clover_liz</a:t>
            </a:r>
            <a:endParaRPr lang="ru-RU" dirty="0"/>
          </a:p>
          <a:p>
            <a:r>
              <a:rPr lang="ru-RU" dirty="0"/>
              <a:t>+7 950 660 1115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xmlns="" id="{60DF70EE-E30A-9927-9407-11A722DC79E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67861" y="4264316"/>
            <a:ext cx="1843581" cy="1576498"/>
          </a:xfrm>
        </p:spPr>
        <p:txBody>
          <a:bodyPr/>
          <a:lstStyle/>
          <a:p>
            <a:r>
              <a:rPr lang="ru-RU" dirty="0"/>
              <a:t>Дизайнер</a:t>
            </a:r>
          </a:p>
          <a:p>
            <a:r>
              <a:rPr lang="en-US" dirty="0"/>
              <a:t>@mixseil</a:t>
            </a:r>
            <a:endParaRPr lang="ru-RU" dirty="0"/>
          </a:p>
          <a:p>
            <a:r>
              <a:rPr lang="ru-RU" dirty="0"/>
              <a:t>+7 </a:t>
            </a:r>
            <a:r>
              <a:rPr lang="en-US" dirty="0"/>
              <a:t>988</a:t>
            </a:r>
            <a:r>
              <a:rPr lang="ru-RU" dirty="0"/>
              <a:t> </a:t>
            </a:r>
            <a:r>
              <a:rPr lang="en-US" dirty="0"/>
              <a:t>055</a:t>
            </a:r>
            <a:r>
              <a:rPr lang="ru-RU" dirty="0"/>
              <a:t> </a:t>
            </a:r>
            <a:r>
              <a:rPr lang="en-US" dirty="0"/>
              <a:t>8357</a:t>
            </a:r>
            <a:endParaRPr lang="ru-RU" dirty="0"/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3AA9E07-B04E-92DB-721F-766F56FC0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6275" y="1522413"/>
            <a:ext cx="1559560" cy="145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14" y="449787"/>
            <a:ext cx="9862734" cy="376138"/>
          </a:xfrm>
        </p:spPr>
        <p:txBody>
          <a:bodyPr/>
          <a:lstStyle/>
          <a:p>
            <a:r>
              <a:rPr lang="ru-RU" dirty="0"/>
              <a:t>КОМАНДА «</a:t>
            </a:r>
            <a:r>
              <a:rPr lang="en-US" dirty="0"/>
              <a:t>THE SEEKERS</a:t>
            </a:r>
            <a:r>
              <a:rPr lang="ru-RU" dirty="0"/>
              <a:t>»</a:t>
            </a:r>
            <a:endParaRPr lang="ru-RU" dirty="0">
              <a:latin typeface="+mn-lt"/>
            </a:endParaRPr>
          </a:p>
        </p:txBody>
      </p:sp>
      <p:sp>
        <p:nvSpPr>
          <p:cNvPr id="35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3982CAB9-CDEF-3A8E-5FFE-F886E7DC8FAC}"/>
              </a:ext>
            </a:extLst>
          </p:cNvPr>
          <p:cNvSpPr/>
          <p:nvPr/>
        </p:nvSpPr>
        <p:spPr>
          <a:xfrm>
            <a:off x="371214" y="1016000"/>
            <a:ext cx="5364424" cy="258170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xmlns="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0513" y="1708397"/>
            <a:ext cx="4425822" cy="12867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Познакомились на первом курсе, по отдельности участвовали в хакатонах, но это первый в который пришли вместе. Смотрим вместе аниме, играем в игры, и теперь, </a:t>
            </a:r>
            <a:r>
              <a:rPr lang="ru-RU" dirty="0" err="1"/>
              <a:t>хакатоним</a:t>
            </a:r>
            <a:r>
              <a:rPr lang="ru-RU" dirty="0"/>
              <a:t>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xmlns="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1558339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Краткая история команды:</a:t>
            </a:r>
          </a:p>
        </p:txBody>
      </p:sp>
      <p:sp>
        <p:nvSpPr>
          <p:cNvPr id="39" name="Прямоугольник с двумя учесеченными противолежащими углами 38">
            <a:extLst>
              <a:ext uri="{FF2B5EF4-FFF2-40B4-BE49-F238E27FC236}">
                <a16:creationId xmlns:a16="http://schemas.microsoft.com/office/drawing/2014/main" xmlns="" id="{1E07537C-8583-F5E2-35CB-73C7FC251F50}"/>
              </a:ext>
            </a:extLst>
          </p:cNvPr>
          <p:cNvSpPr/>
          <p:nvPr/>
        </p:nvSpPr>
        <p:spPr>
          <a:xfrm>
            <a:off x="371214" y="3936163"/>
            <a:ext cx="11485824" cy="2264611"/>
          </a:xfrm>
          <a:prstGeom prst="snip2DiagRect">
            <a:avLst>
              <a:gd name="adj1" fmla="val 0"/>
              <a:gd name="adj2" fmla="val 5972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xmlns="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2469576" y="4905560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Возникли трудности с обучением модели, с размещением приложения на сервере. Всё это преодолели бессонными ночами, упорством и повышением квалификации за счёт интернет источников.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xmlns="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716692" y="4176037"/>
            <a:ext cx="10824519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С какими основными сложностями или вызовами 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вы столкнулись и как их преодолели?</a:t>
            </a:r>
          </a:p>
        </p:txBody>
      </p:sp>
      <p:sp>
        <p:nvSpPr>
          <p:cNvPr id="42" name="Прямоугольник с двумя учесеченными противолежащими углами 41">
            <a:extLst>
              <a:ext uri="{FF2B5EF4-FFF2-40B4-BE49-F238E27FC236}">
                <a16:creationId xmlns:a16="http://schemas.microsoft.com/office/drawing/2014/main" xmlns="" id="{A3083F99-8301-BC13-38FA-1AC792139512}"/>
              </a:ext>
            </a:extLst>
          </p:cNvPr>
          <p:cNvSpPr/>
          <p:nvPr/>
        </p:nvSpPr>
        <p:spPr>
          <a:xfrm>
            <a:off x="6096000" y="1016000"/>
            <a:ext cx="5761038" cy="2581700"/>
          </a:xfrm>
          <a:prstGeom prst="snip2DiagRect">
            <a:avLst>
              <a:gd name="adj1" fmla="val 0"/>
              <a:gd name="adj2" fmla="val 5972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xmlns="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6204937" y="1772154"/>
            <a:ext cx="5336274" cy="17224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Нам было интересно поучаствовать в решении реальной производственной задачи, требующей автоматизации процессов. Так как автоматизация в наши дни проводится во многих областях и приносит реальную пользу, мы очень хотели получить реальный опыт в решении подобных задач, как с технической, так и с бизнес-логической точки зрения, и принести пользу компании.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xmlns="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6163496" y="1243245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Почему вы выбрали именно эту задачу из предложенных на хакатоне?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FEBF8C06-A56D-46F0-AFB4-D5850459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БИЗНЕС-ЗАДАЧА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2683" y="1588128"/>
            <a:ext cx="5481157" cy="1266832"/>
          </a:xfrm>
        </p:spPr>
        <p:txBody>
          <a:bodyPr/>
          <a:lstStyle/>
          <a:p>
            <a:r>
              <a:rPr lang="ru-RU" dirty="0"/>
              <a:t>Безопасность в авиации начинается с надежного контроля инструментов, но сейчас процесс занимает много времени и подвержен ошибкам.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2684" y="2970797"/>
            <a:ext cx="5711956" cy="1266832"/>
          </a:xfrm>
        </p:spPr>
        <p:txBody>
          <a:bodyPr/>
          <a:lstStyle/>
          <a:p>
            <a:r>
              <a:rPr lang="ru-RU" dirty="0"/>
              <a:t>Очереди при выдаче/сдаче (потери до 1,5 часов в день), риск потери инструмента и приостановки допуска инженеров.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2684" y="4419747"/>
            <a:ext cx="5915156" cy="1266832"/>
          </a:xfrm>
        </p:spPr>
        <p:txBody>
          <a:bodyPr/>
          <a:lstStyle/>
          <a:p>
            <a:r>
              <a:rPr lang="ru-RU" dirty="0"/>
              <a:t>Повысить эффективность работы, уменьшить влияние человеческого фактора, ускорить расследование пропаж и упростить соблюдение нормативных требований.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xmlns="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12" name="Треугольник 11">
            <a:extLst>
              <a:ext uri="{FF2B5EF4-FFF2-40B4-BE49-F238E27FC236}">
                <a16:creationId xmlns:a16="http://schemas.microsoft.com/office/drawing/2014/main" xmlns="" id="{9E9C3273-4142-4636-87E1-25E2E7BA8707}"/>
              </a:ext>
            </a:extLst>
          </p:cNvPr>
          <p:cNvSpPr/>
          <p:nvPr/>
        </p:nvSpPr>
        <p:spPr>
          <a:xfrm rot="5400000">
            <a:off x="4327384" y="1641407"/>
            <a:ext cx="226577" cy="218836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Треугольник 12">
            <a:extLst>
              <a:ext uri="{FF2B5EF4-FFF2-40B4-BE49-F238E27FC236}">
                <a16:creationId xmlns:a16="http://schemas.microsoft.com/office/drawing/2014/main" xmlns="" id="{73C26F58-1034-2ECA-0462-6DD3AAE3D654}"/>
              </a:ext>
            </a:extLst>
          </p:cNvPr>
          <p:cNvSpPr/>
          <p:nvPr/>
        </p:nvSpPr>
        <p:spPr>
          <a:xfrm rot="5400000">
            <a:off x="4328136" y="2993369"/>
            <a:ext cx="226577" cy="218836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Треугольник 19">
            <a:extLst>
              <a:ext uri="{FF2B5EF4-FFF2-40B4-BE49-F238E27FC236}">
                <a16:creationId xmlns:a16="http://schemas.microsoft.com/office/drawing/2014/main" xmlns="" id="{4D23A8DE-DD49-606E-C206-82CC379C3C95}"/>
              </a:ext>
            </a:extLst>
          </p:cNvPr>
          <p:cNvSpPr/>
          <p:nvPr/>
        </p:nvSpPr>
        <p:spPr>
          <a:xfrm rot="5400000">
            <a:off x="4327384" y="4431751"/>
            <a:ext cx="226577" cy="218836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xmlns="" id="{DDC9F01F-BB6F-BD64-61DF-06D52191BA1B}"/>
              </a:ext>
            </a:extLst>
          </p:cNvPr>
          <p:cNvSpPr txBox="1">
            <a:spLocks/>
          </p:cNvSpPr>
          <p:nvPr/>
        </p:nvSpPr>
        <p:spPr>
          <a:xfrm>
            <a:off x="2142898" y="1590860"/>
            <a:ext cx="1995763" cy="423628"/>
          </a:xfrm>
          <a:prstGeom prst="rect">
            <a:avLst/>
          </a:prstGeom>
        </p:spPr>
        <p:txBody>
          <a:bodyPr/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>
                <a:solidFill>
                  <a:srgbClr val="F92571"/>
                </a:solidFill>
              </a:rPr>
              <a:t>Актуальность</a:t>
            </a:r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xmlns="" id="{96B702BE-DE75-F000-333D-739F81F44136}"/>
              </a:ext>
            </a:extLst>
          </p:cNvPr>
          <p:cNvSpPr txBox="1">
            <a:spLocks/>
          </p:cNvSpPr>
          <p:nvPr/>
        </p:nvSpPr>
        <p:spPr>
          <a:xfrm>
            <a:off x="2547116" y="2967949"/>
            <a:ext cx="1517378" cy="423628"/>
          </a:xfrm>
          <a:prstGeom prst="rect">
            <a:avLst/>
          </a:prstGeom>
        </p:spPr>
        <p:txBody>
          <a:bodyPr/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>
                <a:solidFill>
                  <a:srgbClr val="F92571"/>
                </a:solidFill>
              </a:rPr>
              <a:t>Проблема</a:t>
            </a:r>
          </a:p>
        </p:txBody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xmlns="" id="{1E151DAF-4CA0-6998-D950-336BBDEA0251}"/>
              </a:ext>
            </a:extLst>
          </p:cNvPr>
          <p:cNvSpPr txBox="1">
            <a:spLocks/>
          </p:cNvSpPr>
          <p:nvPr/>
        </p:nvSpPr>
        <p:spPr>
          <a:xfrm>
            <a:off x="3141641" y="4396887"/>
            <a:ext cx="1818379" cy="423628"/>
          </a:xfrm>
          <a:prstGeom prst="rect">
            <a:avLst/>
          </a:prstGeom>
        </p:spPr>
        <p:txBody>
          <a:bodyPr/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>
                <a:solidFill>
                  <a:srgbClr val="F92571"/>
                </a:solidFill>
              </a:rPr>
              <a:t>Цели</a:t>
            </a:r>
          </a:p>
        </p:txBody>
      </p:sp>
      <p:sp>
        <p:nvSpPr>
          <p:cNvPr id="15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1EAE100E-1720-EDC0-7141-068383A16802}"/>
              </a:ext>
            </a:extLst>
          </p:cNvPr>
          <p:cNvSpPr/>
          <p:nvPr/>
        </p:nvSpPr>
        <p:spPr>
          <a:xfrm>
            <a:off x="472814" y="1270960"/>
            <a:ext cx="11160386" cy="1263755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6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BB970205-DE70-1060-48D1-3EDBE5837EEA}"/>
              </a:ext>
            </a:extLst>
          </p:cNvPr>
          <p:cNvSpPr/>
          <p:nvPr/>
        </p:nvSpPr>
        <p:spPr>
          <a:xfrm>
            <a:off x="515807" y="2701898"/>
            <a:ext cx="11160386" cy="1263755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FADAEBAA-5294-E727-CAAE-5CB783D45BE7}"/>
              </a:ext>
            </a:extLst>
          </p:cNvPr>
          <p:cNvSpPr/>
          <p:nvPr/>
        </p:nvSpPr>
        <p:spPr>
          <a:xfrm>
            <a:off x="515807" y="4188637"/>
            <a:ext cx="11160386" cy="1263755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783933" y="1700233"/>
            <a:ext cx="3866856" cy="423628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Описание работы сервиса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783936" y="2199017"/>
            <a:ext cx="4143904" cy="2368722"/>
          </a:xfrm>
        </p:spPr>
        <p:txBody>
          <a:bodyPr>
            <a:normAutofit/>
          </a:bodyPr>
          <a:lstStyle/>
          <a:p>
            <a:r>
              <a:rPr lang="ru-RU" sz="1600" dirty="0"/>
              <a:t>Пользователь загружает фото набора инструментов </a:t>
            </a:r>
            <a:br>
              <a:rPr lang="ru-RU" sz="1600" dirty="0"/>
            </a:br>
            <a:r>
              <a:rPr lang="ru-RU" sz="1600" dirty="0"/>
              <a:t>→ система распознаёт их </a:t>
            </a:r>
            <a:br>
              <a:rPr lang="ru-RU" sz="1600" dirty="0"/>
            </a:br>
            <a:r>
              <a:rPr lang="ru-RU" sz="1600" dirty="0"/>
              <a:t>→ сверяет с эталонным набором </a:t>
            </a:r>
            <a:br>
              <a:rPr lang="ru-RU" sz="1600" dirty="0"/>
            </a:br>
            <a:r>
              <a:rPr lang="ru-RU" sz="1600" dirty="0"/>
              <a:t>→ сохраняет данные в базу.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6550144" cy="376138"/>
          </a:xfrm>
        </p:spPr>
        <p:txBody>
          <a:bodyPr/>
          <a:lstStyle/>
          <a:p>
            <a:r>
              <a:rPr lang="ru-RU" dirty="0"/>
              <a:t>ТЕХНИЧЕСКИЕ ОПИСАНИЕ РЕШЕНИЯ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xmlns="" id="{DD6F6797-3604-47DB-9F6E-C77E82599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" y="1108881"/>
            <a:ext cx="9987280" cy="517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2">
            <a:extLst>
              <a:ext uri="{FF2B5EF4-FFF2-40B4-BE49-F238E27FC236}">
                <a16:creationId xmlns:a16="http://schemas.microsoft.com/office/drawing/2014/main" xmlns="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xmlns="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xmlns="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rgbClr val="201E42">
                  <a:alpha val="50000"/>
                </a:srgb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xmlns="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xmlns="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xmlns="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xmlns="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xmlns="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xmlns="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xmlns="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xmlns="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xmlns="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xmlns="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xmlns="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xmlns="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xmlns="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xmlns="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xmlns="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xmlns="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xmlns="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xmlns="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xmlns="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xmlns="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xmlns="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xmlns="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rgbClr val="201E42">
                  <a:alpha val="50000"/>
                </a:srgb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xmlns="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xmlns="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xmlns="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xmlns="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xmlns="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xmlns="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xmlns="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xmlns="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xmlns="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xmlns="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xmlns="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xmlns="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xmlns="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xmlns="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xmlns="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xmlns="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xmlns="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xmlns="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xmlns="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7670D4F-285D-4982-9484-EA7D8676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РАБОТА 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289" y="4324451"/>
            <a:ext cx="4979041" cy="1612262"/>
          </a:xfrm>
        </p:spPr>
        <p:txBody>
          <a:bodyPr/>
          <a:lstStyle/>
          <a:p>
            <a:r>
              <a:rPr lang="ru-RU" dirty="0"/>
              <a:t>Пользователь заходит, открывает приложение, загружает </a:t>
            </a:r>
            <a:r>
              <a:rPr lang="ru-RU" i="1" dirty="0"/>
              <a:t>изображение</a:t>
            </a:r>
            <a:r>
              <a:rPr lang="ru-RU" dirty="0"/>
              <a:t>, выставляет процент точности и нажимает кнопку старта анализа.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867204" cy="1612262"/>
          </a:xfrm>
        </p:spPr>
        <p:txBody>
          <a:bodyPr/>
          <a:lstStyle/>
          <a:p>
            <a:r>
              <a:rPr lang="ru-RU" dirty="0"/>
              <a:t>Приложение выводит список распознанных инструментов и процент точности</a:t>
            </a:r>
          </a:p>
        </p:txBody>
      </p:sp>
      <p:pic>
        <p:nvPicPr>
          <p:cNvPr id="62" name="Рисунок 61"/>
          <p:cNvPicPr>
            <a:picLocks noGrp="1" noChangeAspect="1"/>
          </p:cNvPicPr>
          <p:nvPr>
            <p:ph type="pic"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6" r="5616"/>
          <a:stretch>
            <a:fillRect/>
          </a:stretch>
        </p:blipFill>
        <p:spPr/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xmlns="" id="{5F16607B-0E55-F9C6-4ED5-C47752F98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382" y="2719985"/>
            <a:ext cx="788342" cy="243381"/>
          </a:xfrm>
          <a:prstGeom prst="rect">
            <a:avLst/>
          </a:prstGeom>
        </p:spPr>
      </p:pic>
      <p:sp>
        <p:nvSpPr>
          <p:cNvPr id="56" name="Текст 3">
            <a:extLst>
              <a:ext uri="{FF2B5EF4-FFF2-40B4-BE49-F238E27FC236}">
                <a16:creationId xmlns:a16="http://schemas.microsoft.com/office/drawing/2014/main" xmlns="" id="{16E50A05-C0F5-30FA-CD9A-AB3437202083}"/>
              </a:ext>
            </a:extLst>
          </p:cNvPr>
          <p:cNvSpPr txBox="1">
            <a:spLocks/>
          </p:cNvSpPr>
          <p:nvPr/>
        </p:nvSpPr>
        <p:spPr>
          <a:xfrm>
            <a:off x="5651284" y="2427873"/>
            <a:ext cx="908537" cy="584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МАГИЯ </a:t>
            </a:r>
          </a:p>
        </p:txBody>
      </p:sp>
      <p:pic>
        <p:nvPicPr>
          <p:cNvPr id="61" name="Рисунок 60"/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8" t="11016" r="8656" b="9013"/>
          <a:stretch/>
        </p:blipFill>
        <p:spPr>
          <a:xfrm>
            <a:off x="6882078" y="1591680"/>
            <a:ext cx="4090473" cy="2283158"/>
          </a:xfrm>
        </p:spPr>
      </p:pic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9B891C0-649E-7BB5-DE6B-FF395D5E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xmlns="" id="{926D9176-EB06-BB0B-9971-53F3204AF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390F8436-1820-1D28-93B9-B2EB1E434F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99070" y="1222713"/>
            <a:ext cx="4741327" cy="376139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Минимальные требования к железу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78EC56A-C326-A596-B719-F10D44F331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99073" y="1790324"/>
            <a:ext cx="4741327" cy="1497045"/>
          </a:xfrm>
        </p:spPr>
        <p:txBody>
          <a:bodyPr/>
          <a:lstStyle/>
          <a:p>
            <a:r>
              <a:rPr lang="ru-RU" dirty="0"/>
              <a:t>Минимальные требования: 2 ядра CPU, 4 Гб ОЗУ, 10 Гб диска, GPU — опционально.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28FAA86-D418-BC61-DBA7-16D637AC5D2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18432" y="3839091"/>
            <a:ext cx="4741327" cy="448349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Архитектурные решения для ускорения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EF06046-66F9-DED1-4C10-2E1265C3F28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18432" y="4386831"/>
            <a:ext cx="4741327" cy="2065311"/>
          </a:xfrm>
        </p:spPr>
        <p:txBody>
          <a:bodyPr/>
          <a:lstStyle/>
          <a:p>
            <a:r>
              <a:rPr lang="ru-RU" dirty="0"/>
              <a:t>Для ускорения используется микросервисная архитектура: фронтенд и бэкенд разделены, модель работает в отдельном CV-сервисе. Это позволяет масштабировать вычислительную часть независимо от интерфейса.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3CAE4878-886D-C429-6E48-97DC8CC9019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672177" y="1222713"/>
            <a:ext cx="3386223" cy="394934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Возможности оптимизации и масштабирования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330346DD-09C1-17A9-D8FF-78F3C2DD6EE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672180" y="1790325"/>
            <a:ext cx="4741327" cy="1638676"/>
          </a:xfrm>
        </p:spPr>
        <p:txBody>
          <a:bodyPr/>
          <a:lstStyle/>
          <a:p>
            <a:r>
              <a:rPr lang="ru-RU" dirty="0"/>
              <a:t>Оптимизация возможна через ONNX/</a:t>
            </a:r>
            <a:r>
              <a:rPr lang="ru-RU" dirty="0" err="1"/>
              <a:t>TensorRT</a:t>
            </a:r>
            <a:r>
              <a:rPr lang="ru-RU" dirty="0"/>
              <a:t>. Масштабирование достигается за счёт микросервисной архитектуры и контейнеризации (</a:t>
            </a:r>
            <a:r>
              <a:rPr lang="ru-RU" dirty="0" err="1"/>
              <a:t>Docker</a:t>
            </a:r>
            <a:r>
              <a:rPr lang="ru-RU" dirty="0"/>
              <a:t> + Yandex </a:t>
            </a:r>
            <a:r>
              <a:rPr lang="ru-RU" dirty="0" err="1"/>
              <a:t>Cloud</a:t>
            </a:r>
            <a:r>
              <a:rPr lang="ru-RU" dirty="0"/>
              <a:t>).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62DA90DB-CAE1-F319-02CD-BD3B4BE7BA7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652821" y="3839092"/>
            <a:ext cx="4741327" cy="457680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Время </a:t>
            </a:r>
            <a:r>
              <a:rPr lang="ru-RU" dirty="0" err="1">
                <a:solidFill>
                  <a:srgbClr val="F92571"/>
                </a:solidFill>
              </a:rPr>
              <a:t>инференса</a:t>
            </a:r>
            <a:r>
              <a:rPr lang="ru-RU" dirty="0">
                <a:solidFill>
                  <a:srgbClr val="F92571"/>
                </a:solidFill>
              </a:rPr>
              <a:t> на вашем железе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75159A20-807A-35D3-5E8C-89BB146D23D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52821" y="4386831"/>
            <a:ext cx="4741327" cy="2065311"/>
          </a:xfrm>
        </p:spPr>
        <p:txBody>
          <a:bodyPr/>
          <a:lstStyle/>
          <a:p>
            <a:r>
              <a:rPr lang="ru-RU" dirty="0"/>
              <a:t>Среднее время </a:t>
            </a:r>
            <a:r>
              <a:rPr lang="ru-RU" dirty="0" err="1"/>
              <a:t>инференса</a:t>
            </a:r>
            <a:r>
              <a:rPr lang="ru-RU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На CPU: 3 сек/изображение.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На GPU (Tesla T4) — 0.2 сек/изображение.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2488658C-7E04-001A-CB61-1027AF5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</p:spPr>
        <p:txBody>
          <a:bodyPr/>
          <a:lstStyle/>
          <a:p>
            <a:r>
              <a:rPr lang="ru-RU" dirty="0"/>
              <a:t>ТЕХНИЧЕСКИЕ ПАРАМЕТРЫ</a:t>
            </a:r>
          </a:p>
        </p:txBody>
      </p:sp>
      <p:sp>
        <p:nvSpPr>
          <p:cNvPr id="22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BF4EB23C-833A-ABF5-418E-C616026002D8}"/>
              </a:ext>
            </a:extLst>
          </p:cNvPr>
          <p:cNvSpPr/>
          <p:nvPr/>
        </p:nvSpPr>
        <p:spPr>
          <a:xfrm>
            <a:off x="539165" y="988931"/>
            <a:ext cx="5364424" cy="2298438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7B841B4A-FD37-E067-72D0-FCDADC3212D6}"/>
              </a:ext>
            </a:extLst>
          </p:cNvPr>
          <p:cNvSpPr/>
          <p:nvPr/>
        </p:nvSpPr>
        <p:spPr>
          <a:xfrm>
            <a:off x="539165" y="3655220"/>
            <a:ext cx="5364424" cy="2298438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733C4A24-7D6D-41DC-E139-E24F2D7C4A85}"/>
              </a:ext>
            </a:extLst>
          </p:cNvPr>
          <p:cNvSpPr/>
          <p:nvPr/>
        </p:nvSpPr>
        <p:spPr>
          <a:xfrm>
            <a:off x="6200302" y="1034779"/>
            <a:ext cx="5364424" cy="2298438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6" name="Прямоугольник с двумя учесеченными противолежащими углами 34">
            <a:extLst>
              <a:ext uri="{FF2B5EF4-FFF2-40B4-BE49-F238E27FC236}">
                <a16:creationId xmlns:a16="http://schemas.microsoft.com/office/drawing/2014/main" xmlns="" id="{1C2C0173-034C-621A-EF9B-72EF46DDDE81}"/>
              </a:ext>
            </a:extLst>
          </p:cNvPr>
          <p:cNvSpPr/>
          <p:nvPr/>
        </p:nvSpPr>
        <p:spPr>
          <a:xfrm>
            <a:off x="6239695" y="3691736"/>
            <a:ext cx="5364424" cy="2298438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86571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1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8226E2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10966</TotalTime>
  <Words>497</Words>
  <Application>Microsoft Office PowerPoint</Application>
  <PresentationFormat>Произвольный</PresentationFormat>
  <Paragraphs>70</Paragraphs>
  <Slides>8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Для Академия инноваторов 16_9</vt:lpstr>
      <vt:lpstr>TheSeekers</vt:lpstr>
      <vt:lpstr>Презентация PowerPoint</vt:lpstr>
      <vt:lpstr>КОМАНДА «THE SEEKERS»</vt:lpstr>
      <vt:lpstr>КОМАНДА «THE SEEKERS»</vt:lpstr>
      <vt:lpstr>БИЗНЕС-ЗАДАЧА</vt:lpstr>
      <vt:lpstr>ТЕХНИЧЕСКИЕ ОПИСАНИЕ РЕШЕНИЯ</vt:lpstr>
      <vt:lpstr>РАБОТА ПРИЛОЖЕНИЯ</vt:lpstr>
      <vt:lpstr>ТЕХНИЧЕСКИЕ ПАРАМЕТРЫ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Лиза Чувайкина</cp:lastModifiedBy>
  <cp:revision>76</cp:revision>
  <dcterms:created xsi:type="dcterms:W3CDTF">2023-05-15T07:36:23Z</dcterms:created>
  <dcterms:modified xsi:type="dcterms:W3CDTF">2025-10-01T20:58:59Z</dcterms:modified>
</cp:coreProperties>
</file>